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67" r:id="rId3"/>
    <p:sldId id="263" r:id="rId4"/>
    <p:sldId id="266" r:id="rId5"/>
    <p:sldId id="260" r:id="rId6"/>
    <p:sldId id="262" r:id="rId7"/>
    <p:sldId id="265" r:id="rId8"/>
    <p:sldId id="268" r:id="rId9"/>
    <p:sldId id="269" r:id="rId10"/>
    <p:sldId id="25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B0EF"/>
    <a:srgbClr val="EA7E68"/>
    <a:srgbClr val="FFFFFF"/>
    <a:srgbClr val="F39E34"/>
    <a:srgbClr val="23AAAD"/>
    <a:srgbClr val="1B13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9E0F2F-A83C-D995-BEFF-3B030728342F}" v="2" dt="2025-09-10T07:36:38.998"/>
    <p1510:client id="{4CB766E3-2D76-1B1A-60CA-F66C43425255}" v="16" dt="2025-09-10T05:33:48.544"/>
    <p1510:client id="{5E14C916-A806-8C1D-A8C4-8795CF0AC13B}" v="23" dt="2025-09-09T04:33:51.387"/>
    <p1510:client id="{66C7B697-138B-C77B-960E-1D84C760125B}" v="802" dt="2025-09-08T10:38:25.730"/>
    <p1510:client id="{68E6789C-3492-52EB-5530-8F336AE3830E}" v="18" dt="2025-09-10T05:50:35.775"/>
    <p1510:client id="{6C15708D-4E43-C056-D17B-31CF469236BF}" v="16" dt="2025-09-09T08:39:14.509"/>
    <p1510:client id="{81604CCB-2C58-138C-1B33-F7F7CD73E852}" v="51" dt="2025-09-09T13:17:23.466"/>
    <p1510:client id="{8AD69BC4-2C96-84A8-087D-0D3F6987701D}" v="351" dt="2025-09-09T23:59:06.881"/>
    <p1510:client id="{9A3955EB-6812-E86E-F131-E8A68FD9F101}" v="6" dt="2025-09-08T10:36:15.844"/>
    <p1510:client id="{D6161307-3953-B13C-861D-5BBDF5892469}" v="2" dt="2025-09-08T11:10:34.069"/>
    <p1510:client id="{E8F228DC-951E-0D82-6147-7B9322BA257C}" v="4" dt="2025-09-08T08:46:56.47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8DE5F0-F600-46C3-AE4D-5148C69FFBAD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0EF6FF-9132-45E0-97B0-6601D5F658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2078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C58DA-DB18-5DFE-C6ED-5C0E5BE9A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FE5052-7CE1-B1CB-93FD-9E7E10839F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A672DE-6241-691F-6B1E-D26C1B8BB9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59DAF1-CCF9-11DD-5DAD-A95F950452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0EF6FF-9132-45E0-97B0-6601D5F6581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5304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0EF6FF-9132-45E0-97B0-6601D5F6581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8016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0EF6FF-9132-45E0-97B0-6601D5F6581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4862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DE9D4-CBBD-39CF-AB04-BF492945BE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C9F787-A6F0-B4AA-E084-B6E6A2965A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597AC2-B99D-4E92-643D-E755FB134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BE4D0-E68C-4FB2-8B3A-AA41DAF039F9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E3E8F1-0B97-8411-9791-E2816322D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EAFF63-8290-6775-8277-205603A4E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F9677-0272-47B3-8877-9BCDB58A6C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1832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1706E-CA7F-38DC-3ABC-4F852DF7F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2F1B5-7512-79D3-6D27-ACE3DE8EBA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CBC36-52A8-E007-5F87-D62CEE285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BE4D0-E68C-4FB2-8B3A-AA41DAF039F9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43E764-0E8F-32F3-959D-0F804A37A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9B5893-D3ED-A111-1DE0-119AD82E1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F9677-0272-47B3-8877-9BCDB58A6C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830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14975-5492-925A-B15F-E8CC6C301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45FB7A-94FF-7667-A5AE-CDBA3EED9B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6378E6-0E53-3566-5185-3282A7ACF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BE4D0-E68C-4FB2-8B3A-AA41DAF039F9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894B46-3170-CA59-EB06-0A7AC393A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0B8DCD-0235-FAC9-2827-6C5C8B105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F9677-0272-47B3-8877-9BCDB58A6C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641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B336E-6F64-9716-79F6-09C1859BC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8254C-3BFA-9701-AC0A-69FFD312B9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13CF7D-60F3-4DD1-50E0-47BBB8577C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75E01B-DD97-C969-E069-6D6722358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BE4D0-E68C-4FB2-8B3A-AA41DAF039F9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95A4BF-086F-98BB-F707-75DF6DF49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03B833-D94C-1AC9-CFFD-831D8DA12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F9677-0272-47B3-8877-9BCDB58A6C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5369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19E33-AED8-B87B-9CC4-4BAB91FC3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B38AB0-C97E-6DAB-D4F9-4E6E880A75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0FB543-54DF-5442-98C7-915747DAA1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C64A0E-6894-69A9-F1E4-675924EDF4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49B4D7-7FE4-E06D-00C8-F9CB7BAB3D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CC1D51-1765-5933-46E9-9583E41C6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BE4D0-E68C-4FB2-8B3A-AA41DAF039F9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E0BF8D-CC19-4D88-8268-D162B908A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7C37E9-D6FF-6D2E-CCCD-69876A090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F9677-0272-47B3-8877-9BCDB58A6C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1694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FB4E4-AD40-0BBB-5B83-B34C87168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3383E0-E3BA-487A-F1CE-35C3E7036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BE4D0-E68C-4FB2-8B3A-AA41DAF039F9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A2B5EC-367A-A661-0FF1-BABCDF90D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9373EB-8547-A75B-B63A-8D83DF86A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F9677-0272-47B3-8877-9BCDB58A6C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008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25240F-9D6E-5E5B-5739-A764AAD3F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BE4D0-E68C-4FB2-8B3A-AA41DAF039F9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15E38A-2B47-3BE4-FDBB-F1DA85C4C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73BECA-2872-CB7C-70B9-C193C7281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F9677-0272-47B3-8877-9BCDB58A6C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997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B55EF-3FB5-CEEA-B5B9-DF825D069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53C253-96E3-ADD3-298D-DC078E1CF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379389-2AC9-39C4-5C51-4372015E3A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87FBA9-D34A-DF22-4030-7CC81ACCF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BE4D0-E68C-4FB2-8B3A-AA41DAF039F9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72565A-DCE6-BEB8-C0B4-AB737C219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68F334-691D-4D47-5697-B841F7F00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F9677-0272-47B3-8877-9BCDB58A6C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004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AB2BD-9587-900E-7B78-C09E1220A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94C592-D295-8F91-555F-5104C216DE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00948D-CF7C-759D-183B-4A97A197F4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E657F6-AD68-A51D-F55B-E1258283E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BE4D0-E68C-4FB2-8B3A-AA41DAF039F9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5BE1E4-7D6D-F6F3-7A20-AD503FA27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A550FD-9475-C54F-A97D-75D446130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F9677-0272-47B3-8877-9BCDB58A6C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4400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6DE25-DCBC-D358-9606-1AFAC0C1A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E9CA90-1A03-8F33-D4D4-698AE6B2B1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4136D4-D9FF-3984-32C8-E310533CA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BE4D0-E68C-4FB2-8B3A-AA41DAF039F9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B007F2-5888-0388-EEC2-737DB1C45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1E26C5-0E2E-A976-A6BA-B4D7B6726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F9677-0272-47B3-8877-9BCDB58A6C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459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E24D53-CB44-64E5-F537-B0AC6B350F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269E02-5B4E-B2E2-BF0E-FFAB403EC1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EF28F0-7539-0FB2-62D6-933FEFE28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BE4D0-E68C-4FB2-8B3A-AA41DAF039F9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A0D598-96DB-8BDF-7A86-05A1D81CF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EC07A8-426C-583A-2AB9-069E9B29C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F9677-0272-47B3-8877-9BCDB58A6C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939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FA0F04-FAD4-97D9-A6C1-4A9425348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34B0C2-37FD-4F81-D9FA-1A82879BFC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CB38CD-676D-868D-91EF-E89C850F79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FBE4D0-E68C-4FB2-8B3A-AA41DAF039F9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571AA0-E6E0-8ED1-29A0-12D5FC02FF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99B170-770F-E884-8E03-34B29117A0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2F9677-0272-47B3-8877-9BCDB58A6C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986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C3A5304-1DD4-1448-EB8F-F50DA11AEA9F}"/>
              </a:ext>
            </a:extLst>
          </p:cNvPr>
          <p:cNvSpPr/>
          <p:nvPr/>
        </p:nvSpPr>
        <p:spPr>
          <a:xfrm>
            <a:off x="0" y="-142416"/>
            <a:ext cx="12192000" cy="7142831"/>
          </a:xfrm>
          <a:prstGeom prst="rect">
            <a:avLst/>
          </a:prstGeom>
          <a:solidFill>
            <a:srgbClr val="1B13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 sz="5400" dirty="0"/>
              <a:t>Prompt Forge</a:t>
            </a:r>
          </a:p>
          <a:p>
            <a:pPr algn="ctr"/>
            <a:r>
              <a:rPr lang="en-US" sz="2400" dirty="0"/>
              <a:t>“An AI-powered workflow engine that executes JSON-based automation”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E0B9D15-33D0-DD82-F9B9-A62E397585AB}"/>
              </a:ext>
            </a:extLst>
          </p:cNvPr>
          <p:cNvGrpSpPr/>
          <p:nvPr/>
        </p:nvGrpSpPr>
        <p:grpSpPr>
          <a:xfrm rot="9900000">
            <a:off x="4711309" y="833724"/>
            <a:ext cx="2299791" cy="5480193"/>
            <a:chOff x="3753542" y="990487"/>
            <a:chExt cx="2046332" cy="4876222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EE8F1EA6-1449-2D14-64DF-6AE6F61827F1}"/>
                </a:ext>
              </a:extLst>
            </p:cNvPr>
            <p:cNvSpPr/>
            <p:nvPr/>
          </p:nvSpPr>
          <p:spPr>
            <a:xfrm rot="2843287">
              <a:off x="3753542" y="3846218"/>
              <a:ext cx="2020491" cy="2020491"/>
            </a:xfrm>
            <a:custGeom>
              <a:avLst/>
              <a:gdLst>
                <a:gd name="connsiteX0" fmla="*/ 0 w 4040981"/>
                <a:gd name="connsiteY0" fmla="*/ 2020491 h 4040981"/>
                <a:gd name="connsiteX1" fmla="*/ 2020491 w 4040981"/>
                <a:gd name="connsiteY1" fmla="*/ 0 h 4040981"/>
                <a:gd name="connsiteX2" fmla="*/ 4040982 w 4040981"/>
                <a:gd name="connsiteY2" fmla="*/ 2020491 h 4040981"/>
                <a:gd name="connsiteX3" fmla="*/ 2020491 w 4040981"/>
                <a:gd name="connsiteY3" fmla="*/ 4040982 h 4040981"/>
                <a:gd name="connsiteX4" fmla="*/ 0 w 4040981"/>
                <a:gd name="connsiteY4" fmla="*/ 2020491 h 4040981"/>
                <a:gd name="connsiteX0" fmla="*/ 2020491 w 4040982"/>
                <a:gd name="connsiteY0" fmla="*/ 0 h 4040982"/>
                <a:gd name="connsiteX1" fmla="*/ 4040982 w 4040982"/>
                <a:gd name="connsiteY1" fmla="*/ 2020491 h 4040982"/>
                <a:gd name="connsiteX2" fmla="*/ 2020491 w 4040982"/>
                <a:gd name="connsiteY2" fmla="*/ 4040982 h 4040982"/>
                <a:gd name="connsiteX3" fmla="*/ 0 w 4040982"/>
                <a:gd name="connsiteY3" fmla="*/ 2020491 h 4040982"/>
                <a:gd name="connsiteX4" fmla="*/ 2111931 w 4040982"/>
                <a:gd name="connsiteY4" fmla="*/ 91440 h 4040982"/>
                <a:gd name="connsiteX0" fmla="*/ 2020491 w 4040982"/>
                <a:gd name="connsiteY0" fmla="*/ 0 h 4040982"/>
                <a:gd name="connsiteX1" fmla="*/ 4040982 w 4040982"/>
                <a:gd name="connsiteY1" fmla="*/ 2020491 h 4040982"/>
                <a:gd name="connsiteX2" fmla="*/ 2020491 w 4040982"/>
                <a:gd name="connsiteY2" fmla="*/ 4040982 h 4040982"/>
                <a:gd name="connsiteX3" fmla="*/ 0 w 4040982"/>
                <a:gd name="connsiteY3" fmla="*/ 2020491 h 4040982"/>
                <a:gd name="connsiteX0" fmla="*/ 4040982 w 4040982"/>
                <a:gd name="connsiteY0" fmla="*/ 0 h 2020491"/>
                <a:gd name="connsiteX1" fmla="*/ 2020491 w 4040982"/>
                <a:gd name="connsiteY1" fmla="*/ 2020491 h 2020491"/>
                <a:gd name="connsiteX2" fmla="*/ 0 w 4040982"/>
                <a:gd name="connsiteY2" fmla="*/ 0 h 2020491"/>
                <a:gd name="connsiteX0" fmla="*/ 2020491 w 2020491"/>
                <a:gd name="connsiteY0" fmla="*/ 0 h 2020491"/>
                <a:gd name="connsiteX1" fmla="*/ 0 w 2020491"/>
                <a:gd name="connsiteY1" fmla="*/ 2020491 h 2020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20491" h="2020491">
                  <a:moveTo>
                    <a:pt x="2020491" y="0"/>
                  </a:moveTo>
                  <a:cubicBezTo>
                    <a:pt x="2020491" y="1115886"/>
                    <a:pt x="1115886" y="2020491"/>
                    <a:pt x="0" y="2020491"/>
                  </a:cubicBezTo>
                </a:path>
              </a:pathLst>
            </a:custGeom>
            <a:noFill/>
            <a:ln w="403225" cap="rnd">
              <a:gradFill>
                <a:gsLst>
                  <a:gs pos="0">
                    <a:schemeClr val="bg1"/>
                  </a:gs>
                  <a:gs pos="100000">
                    <a:srgbClr val="23AAAD"/>
                  </a:gs>
                </a:gsLst>
                <a:lin ang="21594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6BA0D63-1A8C-FA71-AF34-8D981C9DA020}"/>
                </a:ext>
              </a:extLst>
            </p:cNvPr>
            <p:cNvSpPr/>
            <p:nvPr/>
          </p:nvSpPr>
          <p:spPr>
            <a:xfrm rot="18815050">
              <a:off x="3779383" y="990487"/>
              <a:ext cx="2020491" cy="2020491"/>
            </a:xfrm>
            <a:custGeom>
              <a:avLst/>
              <a:gdLst>
                <a:gd name="connsiteX0" fmla="*/ 0 w 4040981"/>
                <a:gd name="connsiteY0" fmla="*/ 2020491 h 4040981"/>
                <a:gd name="connsiteX1" fmla="*/ 2020491 w 4040981"/>
                <a:gd name="connsiteY1" fmla="*/ 0 h 4040981"/>
                <a:gd name="connsiteX2" fmla="*/ 4040982 w 4040981"/>
                <a:gd name="connsiteY2" fmla="*/ 2020491 h 4040981"/>
                <a:gd name="connsiteX3" fmla="*/ 2020491 w 4040981"/>
                <a:gd name="connsiteY3" fmla="*/ 4040982 h 4040981"/>
                <a:gd name="connsiteX4" fmla="*/ 0 w 4040981"/>
                <a:gd name="connsiteY4" fmla="*/ 2020491 h 4040981"/>
                <a:gd name="connsiteX0" fmla="*/ 0 w 4040982"/>
                <a:gd name="connsiteY0" fmla="*/ 2020491 h 4040982"/>
                <a:gd name="connsiteX1" fmla="*/ 2020491 w 4040982"/>
                <a:gd name="connsiteY1" fmla="*/ 0 h 4040982"/>
                <a:gd name="connsiteX2" fmla="*/ 4040982 w 4040982"/>
                <a:gd name="connsiteY2" fmla="*/ 2020491 h 4040982"/>
                <a:gd name="connsiteX3" fmla="*/ 2020491 w 4040982"/>
                <a:gd name="connsiteY3" fmla="*/ 4040982 h 4040982"/>
                <a:gd name="connsiteX4" fmla="*/ 91440 w 4040982"/>
                <a:gd name="connsiteY4" fmla="*/ 2111931 h 4040982"/>
                <a:gd name="connsiteX0" fmla="*/ 1935425 w 3955916"/>
                <a:gd name="connsiteY0" fmla="*/ 0 h 4040982"/>
                <a:gd name="connsiteX1" fmla="*/ 3955916 w 3955916"/>
                <a:gd name="connsiteY1" fmla="*/ 2020491 h 4040982"/>
                <a:gd name="connsiteX2" fmla="*/ 1935425 w 3955916"/>
                <a:gd name="connsiteY2" fmla="*/ 4040982 h 4040982"/>
                <a:gd name="connsiteX3" fmla="*/ 6374 w 3955916"/>
                <a:gd name="connsiteY3" fmla="*/ 2111931 h 4040982"/>
                <a:gd name="connsiteX0" fmla="*/ 0 w 2020491"/>
                <a:gd name="connsiteY0" fmla="*/ 0 h 4040982"/>
                <a:gd name="connsiteX1" fmla="*/ 2020491 w 2020491"/>
                <a:gd name="connsiteY1" fmla="*/ 2020491 h 4040982"/>
                <a:gd name="connsiteX2" fmla="*/ 0 w 2020491"/>
                <a:gd name="connsiteY2" fmla="*/ 4040982 h 4040982"/>
                <a:gd name="connsiteX0" fmla="*/ 0 w 2020491"/>
                <a:gd name="connsiteY0" fmla="*/ 0 h 2020491"/>
                <a:gd name="connsiteX1" fmla="*/ 2020491 w 2020491"/>
                <a:gd name="connsiteY1" fmla="*/ 2020491 h 2020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20491" h="2020491">
                  <a:moveTo>
                    <a:pt x="0" y="0"/>
                  </a:moveTo>
                  <a:cubicBezTo>
                    <a:pt x="1115886" y="0"/>
                    <a:pt x="2020491" y="904605"/>
                    <a:pt x="2020491" y="2020491"/>
                  </a:cubicBezTo>
                </a:path>
              </a:pathLst>
            </a:custGeom>
            <a:noFill/>
            <a:ln w="403225" cap="rnd">
              <a:gradFill>
                <a:gsLst>
                  <a:gs pos="100000">
                    <a:schemeClr val="bg1"/>
                  </a:gs>
                  <a:gs pos="0">
                    <a:srgbClr val="F39E34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"/>
            </a:p>
          </p:txBody>
        </p:sp>
      </p:grp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4C91A7A9-76C6-5C2E-478B-78958A205DC7}"/>
              </a:ext>
            </a:extLst>
          </p:cNvPr>
          <p:cNvSpPr/>
          <p:nvPr/>
        </p:nvSpPr>
        <p:spPr>
          <a:xfrm>
            <a:off x="7243322" y="943004"/>
            <a:ext cx="431800" cy="431800"/>
          </a:xfrm>
          <a:prstGeom prst="flowChartConnector">
            <a:avLst/>
          </a:prstGeom>
          <a:solidFill>
            <a:srgbClr val="23AA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lowchart: Connector 17">
            <a:extLst>
              <a:ext uri="{FF2B5EF4-FFF2-40B4-BE49-F238E27FC236}">
                <a16:creationId xmlns:a16="http://schemas.microsoft.com/office/drawing/2014/main" id="{6C79B913-9121-C0E3-775A-7CF709668169}"/>
              </a:ext>
            </a:extLst>
          </p:cNvPr>
          <p:cNvSpPr/>
          <p:nvPr/>
        </p:nvSpPr>
        <p:spPr>
          <a:xfrm>
            <a:off x="4594455" y="5920168"/>
            <a:ext cx="229893" cy="229893"/>
          </a:xfrm>
          <a:prstGeom prst="flowChartConnector">
            <a:avLst/>
          </a:prstGeom>
          <a:solidFill>
            <a:srgbClr val="23AA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lowchart: Connector 18">
            <a:extLst>
              <a:ext uri="{FF2B5EF4-FFF2-40B4-BE49-F238E27FC236}">
                <a16:creationId xmlns:a16="http://schemas.microsoft.com/office/drawing/2014/main" id="{7D55A065-5D8F-699B-CAD5-956600A06FD1}"/>
              </a:ext>
            </a:extLst>
          </p:cNvPr>
          <p:cNvSpPr/>
          <p:nvPr/>
        </p:nvSpPr>
        <p:spPr>
          <a:xfrm>
            <a:off x="10153345" y="4450861"/>
            <a:ext cx="431800" cy="431800"/>
          </a:xfrm>
          <a:prstGeom prst="flowChartConnector">
            <a:avLst/>
          </a:prstGeom>
          <a:solidFill>
            <a:srgbClr val="F39E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7F52F024-178F-4960-6EC5-A5B6B07D9C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5294" y="209112"/>
            <a:ext cx="961988" cy="961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7092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551E2-5E7D-11D4-8519-E5B061ECF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1C314-F35F-D34D-E2E0-CB11D2E6E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>
                <a:latin typeface="Calibri"/>
                <a:ea typeface="Calibri"/>
                <a:cs typeface="Calibri"/>
              </a:rPr>
              <a:t>Agenda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A2BC5-E200-A8EF-947F-D2D65E9B29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40959"/>
            <a:ext cx="10515591" cy="428020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3200" dirty="0">
                <a:latin typeface="Calibri"/>
                <a:ea typeface="Calibri"/>
                <a:cs typeface="Arial"/>
              </a:rPr>
              <a:t>•</a:t>
            </a:r>
            <a:r>
              <a:rPr lang="en-US" sz="3200" dirty="0">
                <a:ea typeface="Calibri"/>
                <a:cs typeface="Calibri"/>
              </a:rPr>
              <a:t>- Project Overview</a:t>
            </a:r>
          </a:p>
          <a:p>
            <a:pPr>
              <a:buNone/>
            </a:pPr>
            <a:r>
              <a:rPr lang="en-US" sz="3200" dirty="0">
                <a:latin typeface="Calibri"/>
                <a:ea typeface="Calibri"/>
                <a:cs typeface="Arial"/>
              </a:rPr>
              <a:t>•</a:t>
            </a:r>
            <a:r>
              <a:rPr lang="en-US" sz="3200" dirty="0">
                <a:ea typeface="Calibri"/>
                <a:cs typeface="Calibri"/>
              </a:rPr>
              <a:t>- Tech Stack</a:t>
            </a:r>
          </a:p>
          <a:p>
            <a:pPr>
              <a:buNone/>
            </a:pPr>
            <a:r>
              <a:rPr lang="en-US" sz="3200">
                <a:latin typeface="Calibri"/>
                <a:ea typeface="Calibri"/>
                <a:cs typeface="Arial"/>
              </a:rPr>
              <a:t>•</a:t>
            </a:r>
            <a:r>
              <a:rPr lang="en-US" sz="3200">
                <a:ea typeface="Calibri"/>
                <a:cs typeface="Calibri"/>
              </a:rPr>
              <a:t>- Features (CRUD)</a:t>
            </a:r>
          </a:p>
          <a:p>
            <a:pPr>
              <a:buNone/>
            </a:pPr>
            <a:r>
              <a:rPr lang="en-US" sz="3200" dirty="0">
                <a:latin typeface="Calibri"/>
                <a:ea typeface="Calibri"/>
                <a:cs typeface="Arial"/>
              </a:rPr>
              <a:t>•</a:t>
            </a:r>
            <a:r>
              <a:rPr lang="en-US" sz="3200" dirty="0">
                <a:ea typeface="Calibri"/>
                <a:cs typeface="Calibri"/>
              </a:rPr>
              <a:t>- API Workflow</a:t>
            </a:r>
          </a:p>
          <a:p>
            <a:pPr>
              <a:buNone/>
            </a:pPr>
            <a:r>
              <a:rPr lang="en-US" sz="3200" dirty="0">
                <a:latin typeface="Calibri"/>
                <a:ea typeface="Calibri"/>
                <a:cs typeface="Arial"/>
              </a:rPr>
              <a:t>•</a:t>
            </a:r>
            <a:r>
              <a:rPr lang="en-US" sz="3200" dirty="0">
                <a:ea typeface="Calibri"/>
                <a:cs typeface="Calibri"/>
              </a:rPr>
              <a:t>- Postman Testing</a:t>
            </a:r>
          </a:p>
          <a:p>
            <a:pPr>
              <a:buNone/>
            </a:pPr>
            <a:r>
              <a:rPr lang="en-US" sz="3200" dirty="0">
                <a:latin typeface="Calibri"/>
                <a:ea typeface="Calibri"/>
                <a:cs typeface="Arial"/>
              </a:rPr>
              <a:t>•</a:t>
            </a:r>
            <a:r>
              <a:rPr lang="en-US" sz="3200" dirty="0">
                <a:ea typeface="Calibri"/>
                <a:cs typeface="Calibri"/>
              </a:rPr>
              <a:t>- Conclusion</a:t>
            </a:r>
            <a:endParaRPr lang="en-US" sz="3200" dirty="0"/>
          </a:p>
          <a:p>
            <a:pPr algn="just">
              <a:buNone/>
            </a:pPr>
            <a:endParaRPr lang="en-US" b="1" dirty="0">
              <a:ea typeface="Calibri"/>
              <a:cs typeface="Calibri"/>
            </a:endParaRPr>
          </a:p>
          <a:p>
            <a:pPr algn="just">
              <a:buFont typeface="Arial"/>
              <a:buChar char="•"/>
            </a:pPr>
            <a:endParaRPr lang="en-US" dirty="0">
              <a:ea typeface="Calibri"/>
              <a:cs typeface="Calibri"/>
            </a:endParaRPr>
          </a:p>
          <a:p>
            <a:pPr marL="0" indent="0" algn="just">
              <a:buNone/>
            </a:pPr>
            <a:endParaRPr lang="en-US" dirty="0">
              <a:ea typeface="Calibri"/>
              <a:cs typeface="Calibri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16A2CF0-4EBB-27DD-C7A1-12777F840915}"/>
              </a:ext>
            </a:extLst>
          </p:cNvPr>
          <p:cNvGrpSpPr/>
          <p:nvPr/>
        </p:nvGrpSpPr>
        <p:grpSpPr>
          <a:xfrm>
            <a:off x="221986" y="6188230"/>
            <a:ext cx="5699842" cy="388987"/>
            <a:chOff x="618333" y="6026099"/>
            <a:chExt cx="4886323" cy="38898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1B165D0-A3C4-A8FB-4966-C854FF22CC67}"/>
                </a:ext>
              </a:extLst>
            </p:cNvPr>
            <p:cNvSpPr txBox="1"/>
            <p:nvPr/>
          </p:nvSpPr>
          <p:spPr>
            <a:xfrm>
              <a:off x="1123157" y="6050614"/>
              <a:ext cx="4381499" cy="338554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endParaRPr lang="en-US" sz="1600">
                <a:solidFill>
                  <a:srgbClr val="1B134C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2270BBEF-DAEF-880E-E36B-EB261F0F06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18333" y="6026099"/>
              <a:ext cx="353218" cy="388987"/>
            </a:xfrm>
            <a:prstGeom prst="rect">
              <a:avLst/>
            </a:prstGeom>
          </p:spPr>
        </p:pic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0983D593-93F5-9A09-D173-9DEB8ECEDAD6}"/>
                </a:ext>
              </a:extLst>
            </p:cNvPr>
            <p:cNvCxnSpPr/>
            <p:nvPr/>
          </p:nvCxnSpPr>
          <p:spPr>
            <a:xfrm>
              <a:off x="1123157" y="6026099"/>
              <a:ext cx="0" cy="388987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E1B5C496-863A-1893-8BE0-D3D42929C407}"/>
              </a:ext>
            </a:extLst>
          </p:cNvPr>
          <p:cNvSpPr/>
          <p:nvPr/>
        </p:nvSpPr>
        <p:spPr>
          <a:xfrm>
            <a:off x="8650628" y="681037"/>
            <a:ext cx="431800" cy="431800"/>
          </a:xfrm>
          <a:prstGeom prst="flowChartConnector">
            <a:avLst/>
          </a:prstGeom>
          <a:solidFill>
            <a:srgbClr val="23AA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44709A70-213B-94F0-9404-1E1D979E553C}"/>
              </a:ext>
            </a:extLst>
          </p:cNvPr>
          <p:cNvSpPr/>
          <p:nvPr/>
        </p:nvSpPr>
        <p:spPr>
          <a:xfrm>
            <a:off x="6892178" y="5509860"/>
            <a:ext cx="229893" cy="229893"/>
          </a:xfrm>
          <a:prstGeom prst="flowChartConnector">
            <a:avLst/>
          </a:prstGeom>
          <a:solidFill>
            <a:srgbClr val="23AA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D9CD65D4-6272-DA83-123E-CD75FD451B0F}"/>
              </a:ext>
            </a:extLst>
          </p:cNvPr>
          <p:cNvSpPr/>
          <p:nvPr/>
        </p:nvSpPr>
        <p:spPr>
          <a:xfrm>
            <a:off x="11529492" y="3314053"/>
            <a:ext cx="229893" cy="229893"/>
          </a:xfrm>
          <a:prstGeom prst="flowChartConnector">
            <a:avLst/>
          </a:prstGeom>
          <a:solidFill>
            <a:srgbClr val="23AA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88E9C0D0-5595-E260-B199-F3E162CE7F37}"/>
              </a:ext>
            </a:extLst>
          </p:cNvPr>
          <p:cNvSpPr/>
          <p:nvPr/>
        </p:nvSpPr>
        <p:spPr>
          <a:xfrm>
            <a:off x="10245271" y="5588604"/>
            <a:ext cx="431800" cy="431800"/>
          </a:xfrm>
          <a:prstGeom prst="flowChartConnector">
            <a:avLst/>
          </a:prstGeom>
          <a:solidFill>
            <a:srgbClr val="F39E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781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0F0F6-8883-69EE-5065-C0FCB7A1E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>
                <a:latin typeface="Calibri"/>
                <a:ea typeface="Calibri"/>
                <a:cs typeface="Calibri"/>
              </a:rPr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1ECB5-3247-C946-5FC7-A3DADEB2B0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40959"/>
            <a:ext cx="10515591" cy="4280202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 algn="just">
              <a:buNone/>
            </a:pPr>
            <a:endParaRPr lang="en-US" b="1" dirty="0">
              <a:ea typeface="Calibri"/>
              <a:cs typeface="Calibri"/>
            </a:endParaRPr>
          </a:p>
          <a:p>
            <a:pPr marL="0" indent="0" algn="just">
              <a:buNone/>
            </a:pPr>
            <a:r>
              <a:rPr lang="en-US" sz="2600" b="1" dirty="0"/>
              <a:t>Prompt Forge</a:t>
            </a:r>
            <a:r>
              <a:rPr lang="en-US" sz="2600" dirty="0"/>
              <a:t> is a modular, AI-powered automation framework that executes intelligent multi-step workflows defined in JSON format.</a:t>
            </a:r>
          </a:p>
          <a:p>
            <a:pPr marL="0" indent="0" algn="just">
              <a:buNone/>
            </a:pPr>
            <a:r>
              <a:rPr lang="en-US" sz="2600" dirty="0"/>
              <a:t>It enables seamless task orchestration using tools like LLMs, web scrapers, email automation, and PDF summarizers — all without writing backend logic.</a:t>
            </a:r>
          </a:p>
          <a:p>
            <a:r>
              <a:rPr lang="en-IN" b="1" dirty="0"/>
              <a:t>Key Highlights: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Built using </a:t>
            </a:r>
            <a:r>
              <a:rPr lang="en-IN" b="1" dirty="0"/>
              <a:t>Python</a:t>
            </a:r>
            <a:r>
              <a:rPr lang="en-IN" dirty="0"/>
              <a:t>, </a:t>
            </a:r>
            <a:r>
              <a:rPr lang="en-IN" b="1" dirty="0"/>
              <a:t>Fast API</a:t>
            </a:r>
            <a:r>
              <a:rPr lang="en-IN" dirty="0"/>
              <a:t>, and </a:t>
            </a:r>
            <a:r>
              <a:rPr lang="en-IN" b="1" dirty="0"/>
              <a:t>Lang Chain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Executes workflows via </a:t>
            </a:r>
            <a:r>
              <a:rPr lang="en-IN" b="1" dirty="0"/>
              <a:t>command line</a:t>
            </a:r>
            <a:r>
              <a:rPr lang="en-IN" dirty="0"/>
              <a:t> or optional </a:t>
            </a:r>
            <a:r>
              <a:rPr lang="en-IN" b="1" dirty="0"/>
              <a:t>API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Integrates with external services like </a:t>
            </a:r>
            <a:r>
              <a:rPr lang="en-IN" b="1" dirty="0"/>
              <a:t>Gmail SMTP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Supports tasks like: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Email dispatch to multiple recipients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URL content extraction and LLM processing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PDF summarization (in progress)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Designed for </a:t>
            </a:r>
            <a:r>
              <a:rPr lang="en-IN" b="1" dirty="0"/>
              <a:t>scalability</a:t>
            </a:r>
            <a:r>
              <a:rPr lang="en-IN" dirty="0"/>
              <a:t>, </a:t>
            </a:r>
            <a:r>
              <a:rPr lang="en-IN" b="1" dirty="0"/>
              <a:t>modularity</a:t>
            </a:r>
            <a:r>
              <a:rPr lang="en-IN" dirty="0"/>
              <a:t>, and future </a:t>
            </a:r>
            <a:r>
              <a:rPr lang="en-IN" b="1" dirty="0"/>
              <a:t>SaaS expansion</a:t>
            </a:r>
            <a:endParaRPr lang="en-IN" dirty="0"/>
          </a:p>
          <a:p>
            <a:pPr marL="0" indent="0" algn="just">
              <a:buNone/>
            </a:pPr>
            <a:endParaRPr lang="en-US" dirty="0">
              <a:ea typeface="Calibri"/>
              <a:cs typeface="Calibri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363EB93-95F1-96AB-E43F-9F8E3EE3C6B1}"/>
              </a:ext>
            </a:extLst>
          </p:cNvPr>
          <p:cNvGrpSpPr/>
          <p:nvPr/>
        </p:nvGrpSpPr>
        <p:grpSpPr>
          <a:xfrm>
            <a:off x="221986" y="6188230"/>
            <a:ext cx="5699842" cy="388987"/>
            <a:chOff x="618333" y="6026099"/>
            <a:chExt cx="4886323" cy="38898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A06FC11-3747-517A-912D-354B7A237B3E}"/>
                </a:ext>
              </a:extLst>
            </p:cNvPr>
            <p:cNvSpPr txBox="1"/>
            <p:nvPr/>
          </p:nvSpPr>
          <p:spPr>
            <a:xfrm>
              <a:off x="1123157" y="6050614"/>
              <a:ext cx="4381499" cy="338554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endParaRPr lang="en-US" sz="1600">
                <a:solidFill>
                  <a:srgbClr val="1B134C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8A190ABA-78E8-614E-49E8-0ABDC287DC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18333" y="6026099"/>
              <a:ext cx="353218" cy="388987"/>
            </a:xfrm>
            <a:prstGeom prst="rect">
              <a:avLst/>
            </a:prstGeom>
          </p:spPr>
        </p:pic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EDB755D5-9398-0A5D-CDA4-B0B2289B6141}"/>
                </a:ext>
              </a:extLst>
            </p:cNvPr>
            <p:cNvCxnSpPr/>
            <p:nvPr/>
          </p:nvCxnSpPr>
          <p:spPr>
            <a:xfrm>
              <a:off x="1123157" y="6026099"/>
              <a:ext cx="0" cy="388987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D57470C1-8613-1A45-9728-DBAE0D8ABCB2}"/>
              </a:ext>
            </a:extLst>
          </p:cNvPr>
          <p:cNvSpPr/>
          <p:nvPr/>
        </p:nvSpPr>
        <p:spPr>
          <a:xfrm>
            <a:off x="8650628" y="681037"/>
            <a:ext cx="431800" cy="431800"/>
          </a:xfrm>
          <a:prstGeom prst="flowChartConnector">
            <a:avLst/>
          </a:prstGeom>
          <a:solidFill>
            <a:srgbClr val="23AA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C6E37CDA-39D9-6275-4960-EF801BC183B4}"/>
              </a:ext>
            </a:extLst>
          </p:cNvPr>
          <p:cNvSpPr/>
          <p:nvPr/>
        </p:nvSpPr>
        <p:spPr>
          <a:xfrm>
            <a:off x="6892178" y="5509860"/>
            <a:ext cx="229893" cy="229893"/>
          </a:xfrm>
          <a:prstGeom prst="flowChartConnector">
            <a:avLst/>
          </a:prstGeom>
          <a:solidFill>
            <a:srgbClr val="23AA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DBD3BD71-CBD1-74E3-F8A5-59C5B7363872}"/>
              </a:ext>
            </a:extLst>
          </p:cNvPr>
          <p:cNvSpPr/>
          <p:nvPr/>
        </p:nvSpPr>
        <p:spPr>
          <a:xfrm>
            <a:off x="11529492" y="3314053"/>
            <a:ext cx="229893" cy="229893"/>
          </a:xfrm>
          <a:prstGeom prst="flowChartConnector">
            <a:avLst/>
          </a:prstGeom>
          <a:solidFill>
            <a:srgbClr val="23AA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7D55A065-5D8F-699B-CAD5-956600A06FD1}"/>
              </a:ext>
            </a:extLst>
          </p:cNvPr>
          <p:cNvSpPr/>
          <p:nvPr/>
        </p:nvSpPr>
        <p:spPr>
          <a:xfrm>
            <a:off x="10245271" y="5588604"/>
            <a:ext cx="431800" cy="431800"/>
          </a:xfrm>
          <a:prstGeom prst="flowChartConnector">
            <a:avLst/>
          </a:prstGeom>
          <a:solidFill>
            <a:srgbClr val="F39E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661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535CA-D080-8322-DD53-B1D89AB8B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38656CE3-6D1C-7DFE-F883-C3D3D0B55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>
                <a:latin typeface="Calibri"/>
                <a:ea typeface="Calibri"/>
                <a:cs typeface="Calibri"/>
              </a:rPr>
              <a:t>                                 </a:t>
            </a:r>
            <a:r>
              <a:rPr lang="en-US" sz="4000" b="1">
                <a:latin typeface="Calibri"/>
                <a:ea typeface="Calibri"/>
                <a:cs typeface="Calibri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6722D-6BBC-51BB-37F6-0BBA26F3C9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endParaRPr lang="en-US" b="1">
              <a:ea typeface="Calibri"/>
              <a:cs typeface="Calibri"/>
            </a:endParaRPr>
          </a:p>
          <a:p>
            <a:r>
              <a:rPr lang="en-US" sz="3200">
                <a:ea typeface="+mn-lt"/>
                <a:cs typeface="+mn-lt"/>
              </a:rPr>
              <a:t>Provide a </a:t>
            </a:r>
            <a:r>
              <a:rPr lang="en-US" sz="3200" b="1">
                <a:ea typeface="+mn-lt"/>
                <a:cs typeface="+mn-lt"/>
              </a:rPr>
              <a:t>modular and reliable automation engine</a:t>
            </a:r>
            <a:r>
              <a:rPr lang="en-US" sz="3200">
                <a:ea typeface="+mn-lt"/>
                <a:cs typeface="+mn-lt"/>
              </a:rPr>
              <a:t> for executing AI workflows.</a:t>
            </a:r>
            <a:endParaRPr lang="en-US"/>
          </a:p>
          <a:p>
            <a:r>
              <a:rPr lang="en-US" sz="3200">
                <a:ea typeface="+mn-lt"/>
                <a:cs typeface="+mn-lt"/>
              </a:rPr>
              <a:t>Enable </a:t>
            </a:r>
            <a:r>
              <a:rPr lang="en-US" sz="3200" b="1">
                <a:ea typeface="+mn-lt"/>
                <a:cs typeface="+mn-lt"/>
              </a:rPr>
              <a:t>zero-code workflow creation</a:t>
            </a:r>
            <a:r>
              <a:rPr lang="en-US" sz="3200">
                <a:ea typeface="+mn-lt"/>
                <a:cs typeface="+mn-lt"/>
              </a:rPr>
              <a:t> using simple </a:t>
            </a:r>
            <a:r>
              <a:rPr lang="en-US" sz="3200" b="1">
                <a:ea typeface="+mn-lt"/>
                <a:cs typeface="+mn-lt"/>
              </a:rPr>
              <a:t>JSON-based configuration</a:t>
            </a:r>
            <a:r>
              <a:rPr lang="en-US" sz="3200">
                <a:ea typeface="+mn-lt"/>
                <a:cs typeface="+mn-lt"/>
              </a:rPr>
              <a:t>.</a:t>
            </a:r>
            <a:endParaRPr lang="en-US"/>
          </a:p>
          <a:p>
            <a:r>
              <a:rPr lang="en-US" sz="3200">
                <a:ea typeface="+mn-lt"/>
                <a:cs typeface="+mn-lt"/>
              </a:rPr>
              <a:t>Improve productivity by </a:t>
            </a:r>
            <a:r>
              <a:rPr lang="en-US" sz="3200" b="1">
                <a:ea typeface="+mn-lt"/>
                <a:cs typeface="+mn-lt"/>
              </a:rPr>
              <a:t>automating repetitive tasks</a:t>
            </a:r>
            <a:r>
              <a:rPr lang="en-US" sz="3200">
                <a:ea typeface="+mn-lt"/>
                <a:cs typeface="+mn-lt"/>
              </a:rPr>
              <a:t> like emailing, summarization, and data extraction.</a:t>
            </a:r>
            <a:endParaRPr lang="en-US"/>
          </a:p>
          <a:p>
            <a:r>
              <a:rPr lang="en-US" sz="3200">
                <a:ea typeface="+mn-lt"/>
                <a:cs typeface="+mn-lt"/>
              </a:rPr>
              <a:t>Facilitate </a:t>
            </a:r>
            <a:r>
              <a:rPr lang="en-US" sz="3200" b="1">
                <a:ea typeface="+mn-lt"/>
                <a:cs typeface="+mn-lt"/>
              </a:rPr>
              <a:t>multi-tool orchestration</a:t>
            </a:r>
            <a:r>
              <a:rPr lang="en-US" sz="3200">
                <a:ea typeface="+mn-lt"/>
                <a:cs typeface="+mn-lt"/>
              </a:rPr>
              <a:t> (LLMs, scrapers, TTS, PDF parsing) in a unified pipeline.</a:t>
            </a:r>
            <a:endParaRPr lang="en-US"/>
          </a:p>
          <a:p>
            <a:r>
              <a:rPr lang="en-US" sz="3200">
                <a:ea typeface="+mn-lt"/>
                <a:cs typeface="+mn-lt"/>
              </a:rPr>
              <a:t>Lay the foundation for a </a:t>
            </a:r>
            <a:r>
              <a:rPr lang="en-US" sz="3200" b="1">
                <a:ea typeface="+mn-lt"/>
                <a:cs typeface="+mn-lt"/>
              </a:rPr>
              <a:t>scalable SaaS solution</a:t>
            </a:r>
            <a:r>
              <a:rPr lang="en-US" sz="3200">
                <a:ea typeface="+mn-lt"/>
                <a:cs typeface="+mn-lt"/>
              </a:rPr>
              <a:t> with user-defined intelligent workflows.</a:t>
            </a:r>
            <a:endParaRPr lang="en-US"/>
          </a:p>
          <a:p>
            <a:endParaRPr lang="en-US" sz="3200">
              <a:ea typeface="Calibri"/>
              <a:cs typeface="Calibri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FDEFDAB-FA5E-4373-2D7C-0C31D5E39087}"/>
              </a:ext>
            </a:extLst>
          </p:cNvPr>
          <p:cNvGrpSpPr/>
          <p:nvPr/>
        </p:nvGrpSpPr>
        <p:grpSpPr>
          <a:xfrm>
            <a:off x="232871" y="6271130"/>
            <a:ext cx="5514785" cy="388987"/>
            <a:chOff x="618333" y="6026099"/>
            <a:chExt cx="4886323" cy="38898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5397A39-5643-70AD-66A0-93B170F25E25}"/>
                </a:ext>
              </a:extLst>
            </p:cNvPr>
            <p:cNvSpPr txBox="1"/>
            <p:nvPr/>
          </p:nvSpPr>
          <p:spPr>
            <a:xfrm>
              <a:off x="1123157" y="6050614"/>
              <a:ext cx="4381499" cy="338554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endParaRPr lang="en-US" sz="1600">
                <a:solidFill>
                  <a:srgbClr val="1B134C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AC18C345-5455-8748-126A-A1EDD8A5590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18333" y="6026099"/>
              <a:ext cx="353218" cy="388987"/>
            </a:xfrm>
            <a:prstGeom prst="rect">
              <a:avLst/>
            </a:prstGeom>
          </p:spPr>
        </p:pic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E3DDCCB3-CF1F-7B8D-1308-55216D5C9293}"/>
                </a:ext>
              </a:extLst>
            </p:cNvPr>
            <p:cNvCxnSpPr/>
            <p:nvPr/>
          </p:nvCxnSpPr>
          <p:spPr>
            <a:xfrm>
              <a:off x="1123157" y="6026099"/>
              <a:ext cx="0" cy="388987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E1C0C415-C675-99ED-D788-A856E63CB67A}"/>
              </a:ext>
            </a:extLst>
          </p:cNvPr>
          <p:cNvSpPr/>
          <p:nvPr/>
        </p:nvSpPr>
        <p:spPr>
          <a:xfrm>
            <a:off x="8650628" y="681037"/>
            <a:ext cx="431800" cy="431800"/>
          </a:xfrm>
          <a:prstGeom prst="flowChartConnector">
            <a:avLst/>
          </a:prstGeom>
          <a:solidFill>
            <a:srgbClr val="23AA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A69ABA05-7211-25D1-878F-E8A63EB08FD8}"/>
              </a:ext>
            </a:extLst>
          </p:cNvPr>
          <p:cNvSpPr/>
          <p:nvPr/>
        </p:nvSpPr>
        <p:spPr>
          <a:xfrm>
            <a:off x="6892178" y="5509860"/>
            <a:ext cx="229893" cy="229893"/>
          </a:xfrm>
          <a:prstGeom prst="flowChartConnector">
            <a:avLst/>
          </a:prstGeom>
          <a:solidFill>
            <a:srgbClr val="23AA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1203F55F-1C78-D52E-BD12-223E8858CD81}"/>
              </a:ext>
            </a:extLst>
          </p:cNvPr>
          <p:cNvSpPr/>
          <p:nvPr/>
        </p:nvSpPr>
        <p:spPr>
          <a:xfrm>
            <a:off x="11529492" y="3314053"/>
            <a:ext cx="229893" cy="229893"/>
          </a:xfrm>
          <a:prstGeom prst="flowChartConnector">
            <a:avLst/>
          </a:prstGeom>
          <a:solidFill>
            <a:srgbClr val="23AA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F45D1E15-18DB-AFA3-5964-23E78454A524}"/>
              </a:ext>
            </a:extLst>
          </p:cNvPr>
          <p:cNvSpPr/>
          <p:nvPr/>
        </p:nvSpPr>
        <p:spPr>
          <a:xfrm>
            <a:off x="10245271" y="5588604"/>
            <a:ext cx="431800" cy="431800"/>
          </a:xfrm>
          <a:prstGeom prst="flowChartConnector">
            <a:avLst/>
          </a:prstGeom>
          <a:solidFill>
            <a:srgbClr val="F39E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9715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088F8-073A-5FCF-7308-2EC60CDF3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7DA5EEB-CE11-BB00-B36B-FA135219FC20}"/>
              </a:ext>
            </a:extLst>
          </p:cNvPr>
          <p:cNvSpPr/>
          <p:nvPr/>
        </p:nvSpPr>
        <p:spPr>
          <a:xfrm>
            <a:off x="9496552" y="4594034"/>
            <a:ext cx="2258446" cy="1994053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4C0A1B-AD10-EA61-F694-B86EA26ACD13}"/>
              </a:ext>
            </a:extLst>
          </p:cNvPr>
          <p:cNvSpPr/>
          <p:nvPr/>
        </p:nvSpPr>
        <p:spPr>
          <a:xfrm>
            <a:off x="7157898" y="140271"/>
            <a:ext cx="3319144" cy="330371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75000"/>
              </a:schemeClr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13A0819-0D3C-02E0-6DBB-4E9689E40008}"/>
              </a:ext>
            </a:extLst>
          </p:cNvPr>
          <p:cNvGrpSpPr/>
          <p:nvPr/>
        </p:nvGrpSpPr>
        <p:grpSpPr>
          <a:xfrm>
            <a:off x="126706" y="6376302"/>
            <a:ext cx="5370579" cy="388987"/>
            <a:chOff x="618333" y="6026099"/>
            <a:chExt cx="5370579" cy="388987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27F195B-8CF8-2175-9BC5-9CE49FA48C1C}"/>
                </a:ext>
              </a:extLst>
            </p:cNvPr>
            <p:cNvSpPr txBox="1"/>
            <p:nvPr/>
          </p:nvSpPr>
          <p:spPr>
            <a:xfrm>
              <a:off x="1123157" y="6050614"/>
              <a:ext cx="4865755" cy="338554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endParaRPr lang="en-US" sz="1600">
                <a:solidFill>
                  <a:srgbClr val="1B134C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3FE5C1F2-A290-1FBE-0BC2-EC5F0E887A2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18333" y="6026099"/>
              <a:ext cx="353218" cy="388987"/>
            </a:xfrm>
            <a:prstGeom prst="rect">
              <a:avLst/>
            </a:prstGeom>
          </p:spPr>
        </p:pic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33F2914-AE79-DECF-8393-B159B3697381}"/>
                </a:ext>
              </a:extLst>
            </p:cNvPr>
            <p:cNvCxnSpPr/>
            <p:nvPr/>
          </p:nvCxnSpPr>
          <p:spPr>
            <a:xfrm>
              <a:off x="1123157" y="6026099"/>
              <a:ext cx="0" cy="388987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3D6B3D08-F22C-C780-532A-27893456D1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1994" y="936329"/>
            <a:ext cx="4112516" cy="432511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444F30B-59A9-ADEF-7793-655D10749199}"/>
              </a:ext>
            </a:extLst>
          </p:cNvPr>
          <p:cNvSpPr txBox="1"/>
          <p:nvPr/>
        </p:nvSpPr>
        <p:spPr>
          <a:xfrm>
            <a:off x="490619" y="-5520"/>
            <a:ext cx="512029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en-GB" sz="4000">
                <a:ea typeface="+mn-lt"/>
                <a:cs typeface="+mn-lt"/>
              </a:rPr>
              <a:t>Architecture</a:t>
            </a:r>
            <a:endParaRPr lang="en-US" sz="4000">
              <a:ea typeface="Calibri"/>
              <a:cs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ADAC8E6-C190-9D45-51B3-FAE61F7907B3}"/>
              </a:ext>
            </a:extLst>
          </p:cNvPr>
          <p:cNvSpPr txBox="1"/>
          <p:nvPr/>
        </p:nvSpPr>
        <p:spPr>
          <a:xfrm>
            <a:off x="261359" y="695989"/>
            <a:ext cx="7669564" cy="69557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>
                <a:latin typeface="Calibri"/>
                <a:ea typeface="+mn-lt"/>
                <a:cs typeface="+mn-lt"/>
              </a:rPr>
              <a:t>Prompt forge/</a:t>
            </a:r>
            <a:endParaRPr lang="en-US"/>
          </a:p>
          <a:p>
            <a:r>
              <a:rPr lang="en-GB" sz="1400">
                <a:ea typeface="+mn-lt"/>
                <a:cs typeface="+mn-lt"/>
              </a:rPr>
              <a:t>├── main.py                                                        # Workflow runner (CLI + API)</a:t>
            </a:r>
            <a:endParaRPr lang="en-GB" sz="1400">
              <a:ea typeface="Calibri"/>
              <a:cs typeface="Calibri"/>
            </a:endParaRPr>
          </a:p>
          <a:p>
            <a:r>
              <a:rPr lang="en-GB" sz="1400">
                <a:ea typeface="+mn-lt"/>
                <a:cs typeface="+mn-lt"/>
              </a:rPr>
              <a:t>├── config.py                                                     # Loads env config</a:t>
            </a:r>
            <a:endParaRPr lang="en-GB" sz="1400">
              <a:ea typeface="Calibri"/>
              <a:cs typeface="Calibri"/>
            </a:endParaRPr>
          </a:p>
          <a:p>
            <a:r>
              <a:rPr lang="en-GB" sz="1400">
                <a:ea typeface="+mn-lt"/>
                <a:cs typeface="+mn-lt"/>
              </a:rPr>
              <a:t>├── requirements.txt                                   # Dependencies</a:t>
            </a:r>
            <a:endParaRPr lang="en-GB" sz="1400">
              <a:ea typeface="Calibri"/>
              <a:cs typeface="Calibri"/>
            </a:endParaRPr>
          </a:p>
          <a:p>
            <a:r>
              <a:rPr lang="en-GB" sz="1400">
                <a:ea typeface="+mn-lt"/>
                <a:cs typeface="+mn-lt"/>
              </a:rPr>
              <a:t>├── .env                                                       # Gmail SMTP credentials</a:t>
            </a:r>
            <a:endParaRPr lang="en-GB" sz="1400">
              <a:ea typeface="Calibri"/>
              <a:cs typeface="Calibri"/>
            </a:endParaRPr>
          </a:p>
          <a:p>
            <a:r>
              <a:rPr lang="en-GB" sz="1400">
                <a:ea typeface="+mn-lt"/>
                <a:cs typeface="+mn-lt"/>
              </a:rPr>
              <a:t>├── README.md                                            # Project documentation</a:t>
            </a:r>
            <a:endParaRPr lang="en-GB" sz="1400">
              <a:ea typeface="Calibri"/>
              <a:cs typeface="Calibri"/>
            </a:endParaRPr>
          </a:p>
          <a:p>
            <a:endParaRPr lang="en-GB" sz="1400">
              <a:ea typeface="Calibri"/>
              <a:cs typeface="Calibri"/>
            </a:endParaRPr>
          </a:p>
          <a:p>
            <a:r>
              <a:rPr lang="en-GB" sz="1400">
                <a:ea typeface="+mn-lt"/>
                <a:cs typeface="+mn-lt"/>
              </a:rPr>
              <a:t>├── agents/</a:t>
            </a:r>
            <a:endParaRPr lang="en-GB" sz="1400">
              <a:ea typeface="Calibri"/>
              <a:cs typeface="Calibri"/>
            </a:endParaRPr>
          </a:p>
          <a:p>
            <a:r>
              <a:rPr lang="en-GB" sz="1400">
                <a:ea typeface="+mn-lt"/>
                <a:cs typeface="+mn-lt"/>
              </a:rPr>
              <a:t>│   └── executor.py                                  # Executes the workflow steps</a:t>
            </a:r>
            <a:endParaRPr lang="en-GB" sz="1400">
              <a:ea typeface="Calibri"/>
              <a:cs typeface="Calibri"/>
            </a:endParaRPr>
          </a:p>
          <a:p>
            <a:endParaRPr lang="en-GB" sz="1400">
              <a:ea typeface="Calibri"/>
              <a:cs typeface="Calibri"/>
            </a:endParaRPr>
          </a:p>
          <a:p>
            <a:r>
              <a:rPr lang="en-GB" sz="1400">
                <a:ea typeface="+mn-lt"/>
                <a:cs typeface="+mn-lt"/>
              </a:rPr>
              <a:t>├── memory/</a:t>
            </a:r>
            <a:endParaRPr lang="en-GB" sz="1400">
              <a:ea typeface="Calibri"/>
              <a:cs typeface="Calibri"/>
            </a:endParaRPr>
          </a:p>
          <a:p>
            <a:r>
              <a:rPr lang="en-GB" sz="1400">
                <a:ea typeface="+mn-lt"/>
                <a:cs typeface="+mn-lt"/>
              </a:rPr>
              <a:t>│   └── local_memory.py                  # Stores step results locally</a:t>
            </a:r>
            <a:endParaRPr lang="en-GB" sz="1400">
              <a:ea typeface="Calibri"/>
              <a:cs typeface="Calibri"/>
            </a:endParaRPr>
          </a:p>
          <a:p>
            <a:endParaRPr lang="en-GB" sz="1400">
              <a:ea typeface="Calibri"/>
              <a:cs typeface="Calibri"/>
            </a:endParaRPr>
          </a:p>
          <a:p>
            <a:r>
              <a:rPr lang="en-GB" sz="1400">
                <a:ea typeface="+mn-lt"/>
                <a:cs typeface="+mn-lt"/>
              </a:rPr>
              <a:t>├── schemas/</a:t>
            </a:r>
            <a:endParaRPr lang="en-GB" sz="1400">
              <a:ea typeface="Calibri"/>
              <a:cs typeface="Calibri"/>
            </a:endParaRPr>
          </a:p>
          <a:p>
            <a:r>
              <a:rPr lang="en-GB" sz="1400">
                <a:ea typeface="+mn-lt"/>
                <a:cs typeface="+mn-lt"/>
              </a:rPr>
              <a:t>│   └── workflow_schema.py                    # JSON schema validator</a:t>
            </a:r>
            <a:endParaRPr lang="en-GB" sz="1400">
              <a:ea typeface="Calibri"/>
              <a:cs typeface="Calibri"/>
            </a:endParaRPr>
          </a:p>
          <a:p>
            <a:endParaRPr lang="en-GB" sz="1400">
              <a:ea typeface="Calibri"/>
              <a:cs typeface="Calibri"/>
            </a:endParaRPr>
          </a:p>
          <a:p>
            <a:r>
              <a:rPr lang="en-GB" sz="1400">
                <a:ea typeface="+mn-lt"/>
                <a:cs typeface="+mn-lt"/>
              </a:rPr>
              <a:t>├── tools/</a:t>
            </a:r>
            <a:endParaRPr lang="en-GB" sz="1400">
              <a:ea typeface="Calibri"/>
              <a:cs typeface="Calibri"/>
            </a:endParaRPr>
          </a:p>
          <a:p>
            <a:r>
              <a:rPr lang="en-GB" sz="1400">
                <a:ea typeface="+mn-lt"/>
                <a:cs typeface="+mn-lt"/>
              </a:rPr>
              <a:t>│   ├── email_sender.py                       # Sends email with attachments</a:t>
            </a:r>
            <a:endParaRPr lang="en-GB" sz="1400">
              <a:ea typeface="Calibri"/>
              <a:cs typeface="Calibri"/>
            </a:endParaRPr>
          </a:p>
          <a:p>
            <a:r>
              <a:rPr lang="en-GB" sz="1400">
                <a:ea typeface="+mn-lt"/>
                <a:cs typeface="+mn-lt"/>
              </a:rPr>
              <a:t>│   ├── pdf_summarizer.py              # Summarizes PDFs (in progress)</a:t>
            </a:r>
            <a:endParaRPr lang="en-GB" sz="1400">
              <a:ea typeface="Calibri"/>
              <a:cs typeface="Calibri"/>
            </a:endParaRPr>
          </a:p>
          <a:p>
            <a:r>
              <a:rPr lang="en-GB" sz="1400">
                <a:ea typeface="+mn-lt"/>
                <a:cs typeface="+mn-lt"/>
              </a:rPr>
              <a:t>│   └── web_scraper.py                   # Extracts content from URLs</a:t>
            </a:r>
            <a:endParaRPr lang="en-GB" sz="1400">
              <a:ea typeface="Calibri"/>
              <a:cs typeface="Calibri"/>
            </a:endParaRPr>
          </a:p>
          <a:p>
            <a:endParaRPr lang="en-GB" sz="1400">
              <a:ea typeface="Calibri"/>
              <a:cs typeface="Calibri"/>
            </a:endParaRPr>
          </a:p>
          <a:p>
            <a:r>
              <a:rPr lang="en-GB" sz="1400">
                <a:ea typeface="+mn-lt"/>
                <a:cs typeface="+mn-lt"/>
              </a:rPr>
              <a:t>├── utils/</a:t>
            </a:r>
            <a:endParaRPr lang="en-GB" sz="1400">
              <a:ea typeface="Calibri"/>
              <a:cs typeface="Calibri"/>
            </a:endParaRPr>
          </a:p>
          <a:p>
            <a:r>
              <a:rPr lang="en-GB" sz="1400">
                <a:ea typeface="+mn-lt"/>
                <a:cs typeface="+mn-lt"/>
              </a:rPr>
              <a:t>│   └── logger.py                             # Logging utilities</a:t>
            </a:r>
            <a:endParaRPr lang="en-GB" sz="1400">
              <a:ea typeface="Calibri"/>
              <a:cs typeface="Calibri"/>
            </a:endParaRPr>
          </a:p>
          <a:p>
            <a:endParaRPr lang="en-GB" sz="1400">
              <a:ea typeface="Calibri"/>
              <a:cs typeface="Calibri"/>
            </a:endParaRPr>
          </a:p>
          <a:p>
            <a:r>
              <a:rPr lang="en-GB" sz="1400">
                <a:ea typeface="+mn-lt"/>
                <a:cs typeface="+mn-lt"/>
              </a:rPr>
              <a:t>├── workflows/</a:t>
            </a:r>
            <a:endParaRPr lang="en-GB" sz="1400">
              <a:ea typeface="Calibri"/>
              <a:cs typeface="Calibri"/>
            </a:endParaRPr>
          </a:p>
          <a:p>
            <a:r>
              <a:rPr lang="en-GB" sz="1400">
                <a:ea typeface="+mn-lt"/>
                <a:cs typeface="+mn-lt"/>
              </a:rPr>
              <a:t>│   └── </a:t>
            </a:r>
            <a:r>
              <a:rPr lang="en-GB" sz="1400" err="1">
                <a:ea typeface="+mn-lt"/>
                <a:cs typeface="+mn-lt"/>
              </a:rPr>
              <a:t>example_workflow.json</a:t>
            </a:r>
            <a:r>
              <a:rPr lang="en-GB" sz="1400">
                <a:ea typeface="+mn-lt"/>
                <a:cs typeface="+mn-lt"/>
              </a:rPr>
              <a:t>         # JSON-defined workflow</a:t>
            </a:r>
            <a:endParaRPr lang="en-GB" sz="1400">
              <a:ea typeface="Calibri"/>
              <a:cs typeface="Calibri"/>
            </a:endParaRPr>
          </a:p>
          <a:p>
            <a:endParaRPr lang="en-GB" sz="2400">
              <a:ea typeface="Calibri"/>
              <a:cs typeface="Calibri"/>
            </a:endParaRPr>
          </a:p>
          <a:p>
            <a:endParaRPr lang="en-GB" sz="2400">
              <a:ea typeface="Calibri"/>
              <a:cs typeface="Calibri"/>
            </a:endParaRPr>
          </a:p>
          <a:p>
            <a:endParaRPr lang="en-GB" sz="240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530141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48EAF-B10B-D3CB-8866-DEB365957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1326"/>
            <a:ext cx="10515600" cy="1023290"/>
          </a:xfrm>
        </p:spPr>
        <p:txBody>
          <a:bodyPr>
            <a:normAutofit/>
          </a:bodyPr>
          <a:lstStyle/>
          <a:p>
            <a:pPr algn="ctr"/>
            <a:r>
              <a:rPr lang="en-IN" b="1">
                <a:ea typeface="+mj-lt"/>
                <a:cs typeface="+mj-lt"/>
              </a:rPr>
              <a:t>Tech Stack</a:t>
            </a:r>
            <a:endParaRPr lang="en-US" b="1"/>
          </a:p>
        </p:txBody>
      </p:sp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F02CEC96-917F-F5DB-6181-A916C712983E}"/>
              </a:ext>
            </a:extLst>
          </p:cNvPr>
          <p:cNvSpPr/>
          <p:nvPr/>
        </p:nvSpPr>
        <p:spPr>
          <a:xfrm>
            <a:off x="8650628" y="681037"/>
            <a:ext cx="431800" cy="431800"/>
          </a:xfrm>
          <a:prstGeom prst="flowChartConnector">
            <a:avLst/>
          </a:prstGeom>
          <a:solidFill>
            <a:srgbClr val="23AA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74CEEE52-5885-5956-66A1-3438CD49DCE9}"/>
              </a:ext>
            </a:extLst>
          </p:cNvPr>
          <p:cNvSpPr/>
          <p:nvPr/>
        </p:nvSpPr>
        <p:spPr>
          <a:xfrm>
            <a:off x="6892178" y="5509860"/>
            <a:ext cx="229893" cy="229893"/>
          </a:xfrm>
          <a:prstGeom prst="flowChartConnector">
            <a:avLst/>
          </a:prstGeom>
          <a:solidFill>
            <a:srgbClr val="23AA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54C348A-9148-34AF-2105-D3F121073431}"/>
              </a:ext>
            </a:extLst>
          </p:cNvPr>
          <p:cNvGrpSpPr/>
          <p:nvPr/>
        </p:nvGrpSpPr>
        <p:grpSpPr>
          <a:xfrm>
            <a:off x="232872" y="6271130"/>
            <a:ext cx="5351499" cy="388987"/>
            <a:chOff x="618333" y="6026099"/>
            <a:chExt cx="4886323" cy="38898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524A1A9-9EA3-46F1-6417-9E7900E3A706}"/>
                </a:ext>
              </a:extLst>
            </p:cNvPr>
            <p:cNvSpPr txBox="1"/>
            <p:nvPr/>
          </p:nvSpPr>
          <p:spPr>
            <a:xfrm>
              <a:off x="1123157" y="6050614"/>
              <a:ext cx="4381499" cy="338554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endParaRPr lang="en-US" sz="1600">
                <a:solidFill>
                  <a:srgbClr val="1B134C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0415DFB4-2B9C-8DEB-A07C-7DC3FDF58A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18333" y="6026099"/>
              <a:ext cx="353218" cy="388987"/>
            </a:xfrm>
            <a:prstGeom prst="rect">
              <a:avLst/>
            </a:prstGeom>
          </p:spPr>
        </p:pic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95B1BB2-6152-6503-8330-06F847EFF45D}"/>
                </a:ext>
              </a:extLst>
            </p:cNvPr>
            <p:cNvCxnSpPr/>
            <p:nvPr/>
          </p:nvCxnSpPr>
          <p:spPr>
            <a:xfrm>
              <a:off x="1123157" y="6026099"/>
              <a:ext cx="0" cy="388987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BA8F310-47CE-D4F8-8631-81CB09F2D2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>
                <a:ea typeface="+mn-lt"/>
                <a:cs typeface="+mn-lt"/>
              </a:rPr>
              <a:t>Python 3.10+</a:t>
            </a:r>
            <a:r>
              <a:rPr lang="en-US">
                <a:ea typeface="+mn-lt"/>
                <a:cs typeface="+mn-lt"/>
              </a:rPr>
              <a:t> – Core language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r>
              <a:rPr lang="en-US" b="1">
                <a:ea typeface="+mn-lt"/>
                <a:cs typeface="+mn-lt"/>
              </a:rPr>
              <a:t>Fast API</a:t>
            </a:r>
            <a:r>
              <a:rPr lang="en-US">
                <a:ea typeface="+mn-lt"/>
                <a:cs typeface="+mn-lt"/>
              </a:rPr>
              <a:t> – API and CLI interface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Lang Chain </a:t>
            </a:r>
            <a:r>
              <a:rPr lang="en-US">
                <a:ea typeface="+mn-lt"/>
                <a:cs typeface="+mn-lt"/>
              </a:rPr>
              <a:t> – AI task orchestration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Pydantic </a:t>
            </a:r>
            <a:r>
              <a:rPr lang="en-US">
                <a:ea typeface="+mn-lt"/>
                <a:cs typeface="+mn-lt"/>
              </a:rPr>
              <a:t> – JSON schema validation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Uvicorn</a:t>
            </a:r>
            <a:r>
              <a:rPr lang="en-US">
                <a:ea typeface="+mn-lt"/>
                <a:cs typeface="+mn-lt"/>
              </a:rPr>
              <a:t> – Fast API server runner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dotenv</a:t>
            </a:r>
            <a:r>
              <a:rPr lang="en-US">
                <a:ea typeface="+mn-lt"/>
                <a:cs typeface="+mn-lt"/>
              </a:rPr>
              <a:t> – Load environment variables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Custom Tools</a:t>
            </a:r>
            <a:r>
              <a:rPr lang="en-US">
                <a:ea typeface="+mn-lt"/>
                <a:cs typeface="+mn-lt"/>
              </a:rPr>
              <a:t> – Email, PDF, URL scraper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Postman</a:t>
            </a:r>
            <a:r>
              <a:rPr lang="en-US">
                <a:ea typeface="+mn-lt"/>
                <a:cs typeface="+mn-lt"/>
              </a:rPr>
              <a:t> – API testing (optional)</a:t>
            </a:r>
            <a:endParaRPr lang="en-US"/>
          </a:p>
          <a:p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487600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0622B-C361-6BC6-BBA9-9CB133339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b="1">
                <a:ea typeface="+mj-lt"/>
                <a:cs typeface="+mj-lt"/>
              </a:rPr>
              <a:t>API Workflow</a:t>
            </a:r>
            <a:endParaRPr lang="en-US" b="1">
              <a:ea typeface="Calibri Light" panose="020F0302020204030204"/>
              <a:cs typeface="Calibri Light" panose="020F0302020204030204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B0AA06F-6C54-6971-B5AE-1727DC0183B6}"/>
              </a:ext>
            </a:extLst>
          </p:cNvPr>
          <p:cNvGrpSpPr/>
          <p:nvPr/>
        </p:nvGrpSpPr>
        <p:grpSpPr>
          <a:xfrm>
            <a:off x="232872" y="6271130"/>
            <a:ext cx="5351499" cy="388987"/>
            <a:chOff x="618333" y="6026099"/>
            <a:chExt cx="4886323" cy="38898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85C4D3C-49C5-A6F7-E081-960C801F7665}"/>
                </a:ext>
              </a:extLst>
            </p:cNvPr>
            <p:cNvSpPr txBox="1"/>
            <p:nvPr/>
          </p:nvSpPr>
          <p:spPr>
            <a:xfrm>
              <a:off x="1123157" y="6050614"/>
              <a:ext cx="4381499" cy="338554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endParaRPr lang="en-US" sz="1600">
                <a:solidFill>
                  <a:srgbClr val="1B134C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43024A23-B966-99F0-2932-F8041F7DA8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18333" y="6026099"/>
              <a:ext cx="353218" cy="388987"/>
            </a:xfrm>
            <a:prstGeom prst="rect">
              <a:avLst/>
            </a:prstGeom>
          </p:spPr>
        </p:pic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1B1A33C0-487C-9565-F78C-5640D9A50B14}"/>
                </a:ext>
              </a:extLst>
            </p:cNvPr>
            <p:cNvCxnSpPr/>
            <p:nvPr/>
          </p:nvCxnSpPr>
          <p:spPr>
            <a:xfrm>
              <a:off x="1123157" y="6026099"/>
              <a:ext cx="0" cy="388987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BB093629-D47A-7CB9-6C09-21BA28FC3426}"/>
              </a:ext>
            </a:extLst>
          </p:cNvPr>
          <p:cNvSpPr/>
          <p:nvPr/>
        </p:nvSpPr>
        <p:spPr>
          <a:xfrm>
            <a:off x="8650628" y="681037"/>
            <a:ext cx="431800" cy="431800"/>
          </a:xfrm>
          <a:prstGeom prst="flowChartConnector">
            <a:avLst/>
          </a:prstGeom>
          <a:solidFill>
            <a:srgbClr val="23AA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558BFB37-5A63-C8D0-421D-BBBD1A0413D3}"/>
              </a:ext>
            </a:extLst>
          </p:cNvPr>
          <p:cNvSpPr/>
          <p:nvPr/>
        </p:nvSpPr>
        <p:spPr>
          <a:xfrm>
            <a:off x="11529492" y="3314053"/>
            <a:ext cx="229893" cy="229893"/>
          </a:xfrm>
          <a:prstGeom prst="flowChartConnector">
            <a:avLst/>
          </a:prstGeom>
          <a:solidFill>
            <a:srgbClr val="23AA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5E2D424A-23D2-21A0-A20A-3103B805FD45}"/>
              </a:ext>
            </a:extLst>
          </p:cNvPr>
          <p:cNvSpPr/>
          <p:nvPr/>
        </p:nvSpPr>
        <p:spPr>
          <a:xfrm>
            <a:off x="10545724" y="5936595"/>
            <a:ext cx="431800" cy="431800"/>
          </a:xfrm>
          <a:prstGeom prst="flowChartConnector">
            <a:avLst/>
          </a:prstGeom>
          <a:solidFill>
            <a:srgbClr val="F39E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73B7B15-45A0-0452-A1B7-15716A2C89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ea typeface="+mn-lt"/>
                <a:cs typeface="+mn-lt"/>
              </a:rPr>
              <a:t>Step 1:</a:t>
            </a:r>
            <a:r>
              <a:rPr lang="en-US" dirty="0">
                <a:ea typeface="+mn-lt"/>
                <a:cs typeface="+mn-lt"/>
              </a:rPr>
              <a:t> Define tasks in a JSON file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r>
              <a:rPr lang="en-US" b="1" dirty="0">
                <a:ea typeface="+mn-lt"/>
                <a:cs typeface="+mn-lt"/>
              </a:rPr>
              <a:t>Step 2:</a:t>
            </a:r>
            <a:r>
              <a:rPr lang="en-US" dirty="0">
                <a:ea typeface="+mn-lt"/>
                <a:cs typeface="+mn-lt"/>
              </a:rPr>
              <a:t> Run via CLI or Fast API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Step 3:</a:t>
            </a:r>
            <a:r>
              <a:rPr lang="en-US" dirty="0">
                <a:ea typeface="+mn-lt"/>
                <a:cs typeface="+mn-lt"/>
              </a:rPr>
              <a:t> Executor runs each tool (email, scrape, PDF)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Step 4:</a:t>
            </a:r>
            <a:r>
              <a:rPr lang="en-US" dirty="0">
                <a:ea typeface="+mn-lt"/>
                <a:cs typeface="+mn-lt"/>
              </a:rPr>
              <a:t> Results stored in local memory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Step 5:</a:t>
            </a:r>
            <a:r>
              <a:rPr lang="en-US" dirty="0">
                <a:ea typeface="+mn-lt"/>
                <a:cs typeface="+mn-lt"/>
              </a:rPr>
              <a:t> Final output returned or emailed</a:t>
            </a:r>
            <a:endParaRPr lang="en-US" dirty="0"/>
          </a:p>
          <a:p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090107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CD4E6-400E-5B73-AF06-160E7327F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>
                <a:ea typeface="+mj-lt"/>
                <a:cs typeface="+mj-lt"/>
              </a:rPr>
              <a:t>Postman Testing</a:t>
            </a:r>
            <a:endParaRPr lang="en-US" b="1">
              <a:ea typeface="Calibri Light" panose="020F0302020204030204"/>
              <a:cs typeface="Calibri Light" panose="020F03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3EFB90-C36D-A9D7-F6EF-575EC49E2D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>
                <a:ea typeface="+mn-lt"/>
                <a:cs typeface="+mn-lt"/>
              </a:rPr>
              <a:t>Endpoint: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>
                <a:latin typeface="Consolas"/>
              </a:rPr>
              <a:t>POST /run-workflow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i="1">
                <a:ea typeface="+mn-lt"/>
                <a:cs typeface="+mn-lt"/>
              </a:rPr>
              <a:t>(if API is enabled)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r>
              <a:rPr lang="en-US" b="1">
                <a:ea typeface="+mn-lt"/>
                <a:cs typeface="+mn-lt"/>
              </a:rPr>
              <a:t>Request Body:</a:t>
            </a:r>
            <a:r>
              <a:rPr lang="en-US">
                <a:ea typeface="+mn-lt"/>
                <a:cs typeface="+mn-lt"/>
              </a:rPr>
              <a:t> Upload a </a:t>
            </a:r>
            <a:r>
              <a:rPr lang="en-US">
                <a:latin typeface="Consolas"/>
              </a:rPr>
              <a:t>.</a:t>
            </a:r>
            <a:r>
              <a:rPr lang="en-US" err="1">
                <a:latin typeface="Consolas"/>
              </a:rPr>
              <a:t>json</a:t>
            </a:r>
            <a:r>
              <a:rPr lang="en-US">
                <a:ea typeface="+mn-lt"/>
                <a:cs typeface="+mn-lt"/>
              </a:rPr>
              <a:t> workflow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Headers:</a:t>
            </a:r>
            <a:br>
              <a:rPr lang="en-US" b="1">
                <a:ea typeface="+mn-lt"/>
                <a:cs typeface="+mn-lt"/>
              </a:rPr>
            </a:br>
            <a:r>
              <a:rPr lang="en-US" b="1">
                <a:ea typeface="+mn-lt"/>
                <a:cs typeface="+mn-lt"/>
              </a:rPr>
              <a:t> </a:t>
            </a:r>
            <a:r>
              <a:rPr lang="en-US">
                <a:latin typeface="Consolas"/>
              </a:rPr>
              <a:t>Content-Type: application/</a:t>
            </a:r>
            <a:r>
              <a:rPr lang="en-US" err="1">
                <a:latin typeface="Consolas"/>
              </a:rPr>
              <a:t>json</a:t>
            </a:r>
            <a:endParaRPr lang="en-US" err="1"/>
          </a:p>
          <a:p>
            <a:r>
              <a:rPr lang="en-US" b="1">
                <a:ea typeface="+mn-lt"/>
                <a:cs typeface="+mn-lt"/>
              </a:rPr>
              <a:t>Expected Response:</a:t>
            </a:r>
            <a:br>
              <a:rPr lang="en-US" b="1">
                <a:ea typeface="+mn-lt"/>
                <a:cs typeface="+mn-lt"/>
              </a:rPr>
            </a:br>
            <a:r>
              <a:rPr lang="en-US" b="1">
                <a:ea typeface="+mn-lt"/>
                <a:cs typeface="+mn-lt"/>
              </a:rPr>
              <a:t> JSON log of executed steps and final output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Use Case:</a:t>
            </a:r>
            <a:br>
              <a:rPr lang="en-US" b="1">
                <a:ea typeface="+mn-lt"/>
                <a:cs typeface="+mn-lt"/>
              </a:rPr>
            </a:br>
            <a:r>
              <a:rPr lang="en-US" b="1">
                <a:ea typeface="+mn-lt"/>
                <a:cs typeface="+mn-lt"/>
              </a:rPr>
              <a:t> Test full workflow execution directly from Postman</a:t>
            </a:r>
            <a:endParaRPr lang="en-US"/>
          </a:p>
          <a:p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604561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FC3B3-C452-3A22-E750-49AA8F31C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>
                <a:ea typeface="+mj-lt"/>
                <a:cs typeface="+mj-lt"/>
              </a:rPr>
              <a:t>Conclusion</a:t>
            </a:r>
            <a:endParaRPr lang="en-US" b="1">
              <a:ea typeface="Calibri Light" panose="020F0302020204030204"/>
              <a:cs typeface="Calibri Light" panose="020F03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5E600E-B683-8349-5C75-F2671425ED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 Email &amp; URL workflows working perfectly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r>
              <a:rPr lang="en-US">
                <a:ea typeface="+mn-lt"/>
                <a:cs typeface="+mn-lt"/>
              </a:rPr>
              <a:t> PDF summarizer in progress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 JSON-only execution (CLI &amp; optional API)</a:t>
            </a:r>
            <a:endParaRPr lang="en-US"/>
          </a:p>
          <a:p>
            <a:r>
              <a:rPr lang="en-US">
                <a:ea typeface="+mn-lt"/>
                <a:cs typeface="+mn-lt"/>
              </a:rPr>
              <a:t> Future: Add more tools, visual editor, SaaS platform</a:t>
            </a:r>
            <a:endParaRPr lang="en-US"/>
          </a:p>
          <a:p>
            <a:r>
              <a:rPr lang="en-US">
                <a:ea typeface="+mn-lt"/>
                <a:cs typeface="+mn-lt"/>
              </a:rPr>
              <a:t> Goal: No-code AI workflow automation for everyone</a:t>
            </a:r>
            <a:endParaRPr lang="en-US"/>
          </a:p>
          <a:p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489596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1688259-6D80-C4E7-7800-399FF0886C91}"/>
              </a:ext>
            </a:extLst>
          </p:cNvPr>
          <p:cNvSpPr txBox="1"/>
          <p:nvPr/>
        </p:nvSpPr>
        <p:spPr>
          <a:xfrm>
            <a:off x="2604691" y="2997728"/>
            <a:ext cx="698261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70000"/>
              </a:lnSpc>
            </a:pPr>
            <a:r>
              <a:rPr lang="en-US" sz="9600" b="1" spc="-300">
                <a:solidFill>
                  <a:srgbClr val="1B134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Thank You!!!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E088B2-7839-7182-1F4C-0A026525B9D2}"/>
              </a:ext>
            </a:extLst>
          </p:cNvPr>
          <p:cNvSpPr/>
          <p:nvPr/>
        </p:nvSpPr>
        <p:spPr>
          <a:xfrm>
            <a:off x="10877550" y="4914900"/>
            <a:ext cx="1314450" cy="1943100"/>
          </a:xfrm>
          <a:prstGeom prst="rect">
            <a:avLst/>
          </a:prstGeom>
          <a:solidFill>
            <a:srgbClr val="F39E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D8B4B88-3803-7AB5-CEFC-EE256A8F840C}"/>
              </a:ext>
            </a:extLst>
          </p:cNvPr>
          <p:cNvSpPr/>
          <p:nvPr/>
        </p:nvSpPr>
        <p:spPr>
          <a:xfrm>
            <a:off x="0" y="0"/>
            <a:ext cx="542925" cy="1647826"/>
          </a:xfrm>
          <a:prstGeom prst="rect">
            <a:avLst/>
          </a:prstGeom>
          <a:solidFill>
            <a:srgbClr val="23AA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4821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565</Words>
  <Application>Microsoft Office PowerPoint</Application>
  <PresentationFormat>Widescreen</PresentationFormat>
  <Paragraphs>89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Consolas</vt:lpstr>
      <vt:lpstr>Poppins</vt:lpstr>
      <vt:lpstr>Office Theme</vt:lpstr>
      <vt:lpstr>PowerPoint Presentation</vt:lpstr>
      <vt:lpstr>Agenda</vt:lpstr>
      <vt:lpstr>Project Overview</vt:lpstr>
      <vt:lpstr>                                 Objectives</vt:lpstr>
      <vt:lpstr>PowerPoint Presentation</vt:lpstr>
      <vt:lpstr>Tech Stack</vt:lpstr>
      <vt:lpstr>API Workflow</vt:lpstr>
      <vt:lpstr>Postman Testing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Aditya Nandanwar</dc:creator>
  <cp:lastModifiedBy>Naresh Cherukuthotapalli</cp:lastModifiedBy>
  <cp:revision>4</cp:revision>
  <dcterms:created xsi:type="dcterms:W3CDTF">2025-08-25T08:51:55Z</dcterms:created>
  <dcterms:modified xsi:type="dcterms:W3CDTF">2025-09-10T09:25:16Z</dcterms:modified>
</cp:coreProperties>
</file>